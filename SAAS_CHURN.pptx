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93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8366760" y="0"/>
            <a:ext cx="3824935" cy="6858000"/>
          </a:xfrm>
          <a:prstGeom prst="rect">
            <a:avLst/>
          </a:prstGeom>
          <a:solidFill>
            <a:srgbClr val="0D2B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8915400" y="594360"/>
            <a:ext cx="2011680" cy="2011680"/>
          </a:xfrm>
          <a:prstGeom prst="ellipse">
            <a:avLst/>
          </a:prstGeom>
          <a:solidFill>
            <a:srgbClr val="145D8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921240" y="1325880"/>
            <a:ext cx="1051560" cy="1051560"/>
          </a:xfrm>
          <a:prstGeom prst="ellipse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10561320" y="4251960"/>
            <a:ext cx="1051560" cy="1051560"/>
          </a:xfrm>
          <a:prstGeom prst="ellipse">
            <a:avLst/>
          </a:prstGeom>
          <a:solidFill>
            <a:srgbClr val="145D8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8732520" y="5074920"/>
            <a:ext cx="566928" cy="566928"/>
          </a:xfrm>
          <a:prstGeom prst="ellipse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3"/>
          <p:cNvCxnSpPr/>
          <p:nvPr/>
        </p:nvCxnSpPr>
        <p:spPr>
          <a:xfrm>
            <a:off x="8869680" y="1280160"/>
            <a:ext cx="594360" cy="594359"/>
          </a:xfrm>
          <a:prstGeom prst="straightConnector1">
            <a:avLst/>
          </a:prstGeom>
          <a:noFill/>
          <a:ln cap="flat" cmpd="sng" w="25400">
            <a:solidFill>
              <a:srgbClr val="2ED2EB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4" name="Google Shape;94;p13"/>
          <p:cNvCxnSpPr/>
          <p:nvPr/>
        </p:nvCxnSpPr>
        <p:spPr>
          <a:xfrm>
            <a:off x="9464040" y="1874519"/>
            <a:ext cx="685800" cy="457201"/>
          </a:xfrm>
          <a:prstGeom prst="straightConnector1">
            <a:avLst/>
          </a:prstGeom>
          <a:noFill/>
          <a:ln cap="flat" cmpd="sng" w="25400">
            <a:solidFill>
              <a:srgbClr val="2ED2EB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5" name="Google Shape;95;p13"/>
          <p:cNvCxnSpPr/>
          <p:nvPr/>
        </p:nvCxnSpPr>
        <p:spPr>
          <a:xfrm>
            <a:off x="10149840" y="2331720"/>
            <a:ext cx="640080" cy="822960"/>
          </a:xfrm>
          <a:prstGeom prst="straightConnector1">
            <a:avLst/>
          </a:prstGeom>
          <a:noFill/>
          <a:ln cap="flat" cmpd="sng" w="25400">
            <a:solidFill>
              <a:srgbClr val="2ED2EB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6" name="Google Shape;96;p13"/>
          <p:cNvCxnSpPr/>
          <p:nvPr/>
        </p:nvCxnSpPr>
        <p:spPr>
          <a:xfrm flipH="1">
            <a:off x="10561320" y="3154680"/>
            <a:ext cx="228600" cy="822959"/>
          </a:xfrm>
          <a:prstGeom prst="straightConnector1">
            <a:avLst/>
          </a:prstGeom>
          <a:noFill/>
          <a:ln cap="flat" cmpd="sng" w="25400">
            <a:solidFill>
              <a:srgbClr val="2ED2EB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7" name="Google Shape;97;p13"/>
          <p:cNvSpPr/>
          <p:nvPr/>
        </p:nvSpPr>
        <p:spPr>
          <a:xfrm rot="2580000">
            <a:off x="9692640" y="2240280"/>
            <a:ext cx="1417320" cy="1828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7FB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8823960" y="3822191"/>
            <a:ext cx="1005840" cy="329184"/>
          </a:xfrm>
          <a:prstGeom prst="ellipse">
            <a:avLst/>
          </a:prstGeom>
          <a:solidFill>
            <a:srgbClr val="E1F4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9326880" y="3685032"/>
            <a:ext cx="1051560" cy="384048"/>
          </a:xfrm>
          <a:prstGeom prst="ellipse">
            <a:avLst/>
          </a:prstGeom>
          <a:solidFill>
            <a:srgbClr val="E1F4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10058400" y="3822191"/>
            <a:ext cx="960120" cy="310896"/>
          </a:xfrm>
          <a:prstGeom prst="ellipse">
            <a:avLst/>
          </a:prstGeom>
          <a:solidFill>
            <a:srgbClr val="E1F4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10378440" y="5559552"/>
            <a:ext cx="868680" cy="274320"/>
          </a:xfrm>
          <a:prstGeom prst="ellipse">
            <a:avLst/>
          </a:prstGeom>
          <a:solidFill>
            <a:srgbClr val="E1F4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10789920" y="5468112"/>
            <a:ext cx="685800" cy="310896"/>
          </a:xfrm>
          <a:prstGeom prst="ellipse">
            <a:avLst/>
          </a:prstGeom>
          <a:solidFill>
            <a:srgbClr val="E1F4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777240" y="68580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D2EB"/>
                </a:solidFill>
                <a:latin typeface="Arial"/>
                <a:ea typeface="Arial"/>
                <a:cs typeface="Arial"/>
                <a:sym typeface="Arial"/>
              </a:rPr>
              <a:t>INTERNSHIP PROJECT  •  OCTOBER 2026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749808" y="1280160"/>
            <a:ext cx="72237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F7FBFF"/>
                </a:solidFill>
              </a:rPr>
              <a:t>SAAS SUBSCRIPTION 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777240" y="2176272"/>
            <a:ext cx="72237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B8CDE0"/>
                </a:solidFill>
              </a:rPr>
              <a:t>CHURN PREDICTION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B8CDE0"/>
                </a:solidFill>
                <a:latin typeface="Arial"/>
                <a:ea typeface="Arial"/>
                <a:cs typeface="Arial"/>
                <a:sym typeface="Arial"/>
              </a:rPr>
              <a:t>Using Machine Learning</a:t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786384" y="3566160"/>
            <a:ext cx="868680" cy="54864"/>
          </a:xfrm>
          <a:prstGeom prst="rect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777240" y="3858768"/>
            <a:ext cx="7040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ED2EB"/>
                </a:solidFill>
                <a:latin typeface="Arial"/>
                <a:ea typeface="Arial"/>
                <a:cs typeface="Arial"/>
                <a:sym typeface="Arial"/>
              </a:rPr>
              <a:t>SUBMITTED BY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777240" y="4187952"/>
            <a:ext cx="726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BFF"/>
                </a:solidFill>
                <a:latin typeface="Arial"/>
                <a:ea typeface="Arial"/>
                <a:cs typeface="Arial"/>
                <a:sym typeface="Arial"/>
              </a:rPr>
              <a:t> Javiya Chelsy 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777240" y="534924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CDE0"/>
                </a:solidFill>
                <a:latin typeface="Arial"/>
                <a:ea typeface="Arial"/>
                <a:cs typeface="Arial"/>
                <a:sym typeface="Arial"/>
              </a:rPr>
              <a:t>Naviotech Solution Pvt. Ltd.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777240" y="5806440"/>
            <a:ext cx="7223760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CDE0"/>
                </a:solidFill>
                <a:latin typeface="Arial"/>
                <a:ea typeface="Arial"/>
                <a:cs typeface="Arial"/>
                <a:sym typeface="Arial"/>
              </a:rPr>
              <a:t>Submission Date: 30 October 2026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8CDE0"/>
                </a:solidFill>
                <a:latin typeface="Arial"/>
                <a:ea typeface="Arial"/>
                <a:cs typeface="Arial"/>
                <a:sym typeface="Arial"/>
              </a:rPr>
              <a:t>01 / 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93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D2E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143000" y="219456"/>
            <a:ext cx="10469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7FBF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143000" y="960120"/>
            <a:ext cx="105156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B8CDE0"/>
                </a:solidFill>
              </a:rPr>
              <a:t>What is Customer Churn? 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22960" y="1554480"/>
            <a:ext cx="6629400" cy="4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7FBFF"/>
                </a:solidFill>
              </a:rPr>
              <a:t>Customer churn occurs when a customer stops using a subscription service.</a:t>
            </a:r>
            <a:endParaRPr sz="2000">
              <a:solidFill>
                <a:srgbClr val="F7FBF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2000">
                <a:solidFill>
                  <a:srgbClr val="F7FBFF"/>
                </a:solidFill>
              </a:rPr>
              <a:t>High churn can reduce business revenue.</a:t>
            </a:r>
            <a:endParaRPr sz="2000">
              <a:solidFill>
                <a:srgbClr val="F7FBF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2000">
                <a:solidFill>
                  <a:srgbClr val="F7FBFF"/>
                </a:solidFill>
              </a:rPr>
              <a:t>Churn prediction helps identify customers who may leave.</a:t>
            </a:r>
            <a:endParaRPr sz="2000">
              <a:solidFill>
                <a:srgbClr val="F7FBF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2000">
                <a:solidFill>
                  <a:srgbClr val="F7FBFF"/>
                </a:solidFill>
              </a:rPr>
              <a:t>This project analyzes customer data and estimates churn risk using a machine learning model.</a:t>
            </a:r>
            <a:endParaRPr sz="2000">
              <a:solidFill>
                <a:srgbClr val="F7FB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7FBFF"/>
                </a:solidFill>
              </a:rPr>
              <a:t>Problem Statement: To develop a simple web application that helps users analyze customer behaviour and predict potential subscription churn.</a:t>
            </a:r>
            <a:endParaRPr sz="2000">
              <a:solidFill>
                <a:srgbClr val="F7FBFF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7FBFF"/>
              </a:solidFill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7818120" y="1874519"/>
            <a:ext cx="50292" cy="2057400"/>
          </a:xfrm>
          <a:prstGeom prst="rect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7982712" y="2395728"/>
            <a:ext cx="32094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7818120" y="4343400"/>
            <a:ext cx="50292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8CDE0"/>
                </a:solidFill>
                <a:latin typeface="Arial"/>
                <a:ea typeface="Arial"/>
                <a:cs typeface="Arial"/>
                <a:sym typeface="Arial"/>
              </a:rPr>
              <a:t>02 / 12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93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D2E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143000" y="219456"/>
            <a:ext cx="104700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7FBFF"/>
                </a:solidFill>
              </a:rPr>
              <a:t>Project Objectives 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731520" y="1371600"/>
            <a:ext cx="50292" cy="4434840"/>
          </a:xfrm>
          <a:prstGeom prst="rect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896112" y="1892807"/>
            <a:ext cx="46725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172200" y="1371600"/>
            <a:ext cx="50292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097275" y="1539425"/>
            <a:ext cx="10241400" cy="4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200"/>
              <a:buChar char="●"/>
            </a:pPr>
            <a:r>
              <a:rPr lang="en-US" sz="2200">
                <a:solidFill>
                  <a:srgbClr val="F7FBFF"/>
                </a:solidFill>
              </a:rPr>
              <a:t>Analyze customer subscription data.</a:t>
            </a:r>
            <a:endParaRPr sz="2200">
              <a:solidFill>
                <a:srgbClr val="F7FB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7FBFF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200"/>
              <a:buChar char="●"/>
            </a:pPr>
            <a:r>
              <a:rPr lang="en-US" sz="2200">
                <a:solidFill>
                  <a:srgbClr val="F7FBFF"/>
                </a:solidFill>
              </a:rPr>
              <a:t>Display important customer statistics through a dashboard.</a:t>
            </a:r>
            <a:endParaRPr sz="2200">
              <a:solidFill>
                <a:srgbClr val="F7FB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7FBFF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200"/>
              <a:buChar char="●"/>
            </a:pPr>
            <a:r>
              <a:rPr lang="en-US" sz="2200">
                <a:solidFill>
                  <a:srgbClr val="F7FBFF"/>
                </a:solidFill>
              </a:rPr>
              <a:t>Visualize customer churn, monthly charges and tenure.</a:t>
            </a:r>
            <a:endParaRPr sz="2200">
              <a:solidFill>
                <a:srgbClr val="F7FB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7FBFF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200"/>
              <a:buChar char="●"/>
            </a:pPr>
            <a:r>
              <a:rPr lang="en-US" sz="2200">
                <a:solidFill>
                  <a:srgbClr val="F7FBFF"/>
                </a:solidFill>
              </a:rPr>
              <a:t>Search and filter customer records.</a:t>
            </a:r>
            <a:endParaRPr sz="2200">
              <a:solidFill>
                <a:srgbClr val="F7FB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7FBFF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200"/>
              <a:buChar char="●"/>
            </a:pPr>
            <a:r>
              <a:rPr lang="en-US" sz="2200">
                <a:solidFill>
                  <a:srgbClr val="F7FBFF"/>
                </a:solidFill>
              </a:rPr>
              <a:t>Predict churn using customer information.</a:t>
            </a:r>
            <a:endParaRPr sz="2200">
              <a:solidFill>
                <a:srgbClr val="F7FB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7FBFF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7FBFF"/>
              </a:buClr>
              <a:buSzPts val="2200"/>
              <a:buChar char="●"/>
            </a:pPr>
            <a:r>
              <a:rPr lang="en-US" sz="2200">
                <a:solidFill>
                  <a:srgbClr val="F7FBFF"/>
                </a:solidFill>
              </a:rPr>
              <a:t>Allow filtered records to be downloaded as a CSV file.</a:t>
            </a:r>
            <a:endParaRPr sz="2200">
              <a:solidFill>
                <a:srgbClr val="F7FB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7FBFF"/>
              </a:solidFill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8CDE0"/>
                </a:solidFill>
                <a:latin typeface="Arial"/>
                <a:ea typeface="Arial"/>
                <a:cs typeface="Arial"/>
                <a:sym typeface="Arial"/>
              </a:rPr>
              <a:t>03 / 12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93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D2E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43000" y="219456"/>
            <a:ext cx="104700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7FBFF"/>
                </a:solidFill>
              </a:rPr>
              <a:t>Technologies Used 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1143000" y="960120"/>
            <a:ext cx="105156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293615" y="1249615"/>
            <a:ext cx="10698600" cy="3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chemeClr val="lt1"/>
                </a:solidFill>
              </a:rPr>
              <a:t>TECHNOLOGY                                                               PURPOSE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</a:rPr>
              <a:t>Python                                                                         Application logic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</a:rPr>
              <a:t>Streamlit                                                                        Web interface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</a:rPr>
              <a:t>Pandas                                                                        Data processing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</a:rPr>
              <a:t>Matplotlib                                                                     Data visualization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</a:rPr>
              <a:t>Scikit-learn                                              Machine learning environment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</a:rPr>
              <a:t>Joblib                                                               Loading the saved model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</a:rPr>
              <a:t>CSV                                                                      Storing customer data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051560" y="5669280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02920" y="6519672"/>
            <a:ext cx="77724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8CDE0"/>
                </a:solidFill>
                <a:latin typeface="Arial"/>
                <a:ea typeface="Arial"/>
                <a:cs typeface="Arial"/>
                <a:sym typeface="Arial"/>
              </a:rPr>
              <a:t>04 / 12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93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D2E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143000" y="219456"/>
            <a:ext cx="10469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7FBFF"/>
                </a:solidFill>
                <a:latin typeface="Arial"/>
                <a:ea typeface="Arial"/>
                <a:cs typeface="Arial"/>
                <a:sym typeface="Arial"/>
              </a:rPr>
              <a:t>Dataset Description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1143000" y="960120"/>
            <a:ext cx="10515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Dataset: </a:t>
            </a:r>
            <a:r>
              <a:rPr lang="en-US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saas_churn_dataset.csv</a:t>
            </a:r>
            <a:r>
              <a:rPr lang="en-US" sz="1600">
                <a:solidFill>
                  <a:schemeClr val="lt1"/>
                </a:solidFill>
              </a:rPr>
              <a:t> 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03475" y="1842527"/>
            <a:ext cx="5074800" cy="3572400"/>
          </a:xfrm>
          <a:prstGeom prst="roundRect">
            <a:avLst>
              <a:gd fmla="val 16667" name="adj"/>
            </a:avLst>
          </a:prstGeom>
          <a:solidFill>
            <a:srgbClr val="0D2B4B"/>
          </a:solidFill>
          <a:ln cap="flat" cmpd="sng" w="9525">
            <a:solidFill>
              <a:srgbClr val="145D8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895987" y="2246674"/>
            <a:ext cx="4782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rgbClr val="F7FBFF"/>
                </a:solidFill>
              </a:rPr>
              <a:t>Attributes:</a:t>
            </a:r>
            <a:endParaRPr sz="1900"/>
          </a:p>
        </p:txBody>
      </p:sp>
      <p:sp>
        <p:nvSpPr>
          <p:cNvPr id="159" name="Google Shape;159;p17"/>
          <p:cNvSpPr txBox="1"/>
          <p:nvPr/>
        </p:nvSpPr>
        <p:spPr>
          <a:xfrm>
            <a:off x="845725" y="2566775"/>
            <a:ext cx="48828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7FBF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2000">
                <a:solidFill>
                  <a:srgbClr val="F7FBFF"/>
                </a:solidFill>
              </a:rPr>
              <a:t>CustomerID</a:t>
            </a:r>
            <a:endParaRPr sz="2000">
              <a:solidFill>
                <a:srgbClr val="F7FBF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2000">
                <a:solidFill>
                  <a:srgbClr val="F7FBFF"/>
                </a:solidFill>
              </a:rPr>
              <a:t>TenureMonths</a:t>
            </a:r>
            <a:endParaRPr sz="2000">
              <a:solidFill>
                <a:srgbClr val="F7FBF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2000">
                <a:solidFill>
                  <a:srgbClr val="F7FBFF"/>
                </a:solidFill>
              </a:rPr>
              <a:t>MonthlyCharges</a:t>
            </a:r>
            <a:endParaRPr sz="2000">
              <a:solidFill>
                <a:srgbClr val="F7FBF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2000">
                <a:solidFill>
                  <a:srgbClr val="F7FBFF"/>
                </a:solidFill>
              </a:rPr>
              <a:t>UsageHours</a:t>
            </a:r>
            <a:endParaRPr sz="2000">
              <a:solidFill>
                <a:srgbClr val="F7FBF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2000">
                <a:solidFill>
                  <a:srgbClr val="F7FBFF"/>
                </a:solidFill>
              </a:rPr>
              <a:t>SupportTickets</a:t>
            </a:r>
            <a:endParaRPr sz="2000">
              <a:solidFill>
                <a:srgbClr val="F7FBF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2000">
                <a:solidFill>
                  <a:srgbClr val="F7FBFF"/>
                </a:solidFill>
              </a:rPr>
              <a:t>PaymentDelays</a:t>
            </a:r>
            <a:endParaRPr sz="2000">
              <a:solidFill>
                <a:srgbClr val="F7FBF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2000">
                <a:solidFill>
                  <a:srgbClr val="F7FBFF"/>
                </a:solidFill>
              </a:rPr>
              <a:t>Churn</a:t>
            </a:r>
            <a:endParaRPr sz="2000">
              <a:solidFill>
                <a:srgbClr val="F7FBFF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7FBFF"/>
              </a:solidFill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044300" y="1915677"/>
            <a:ext cx="5257800" cy="3572400"/>
          </a:xfrm>
          <a:prstGeom prst="roundRect">
            <a:avLst>
              <a:gd fmla="val 16667" name="adj"/>
            </a:avLst>
          </a:prstGeom>
          <a:solidFill>
            <a:srgbClr val="0D2B4B"/>
          </a:solidFill>
          <a:ln cap="flat" cmpd="sng" w="9525">
            <a:solidFill>
              <a:srgbClr val="145D8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327642" y="2315536"/>
            <a:ext cx="4965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Target Variable: 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336792" y="3276410"/>
            <a:ext cx="49470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US" sz="1800">
                <a:solidFill>
                  <a:schemeClr val="lt1"/>
                </a:solidFill>
              </a:rPr>
              <a:t> — Active customer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1800">
                <a:solidFill>
                  <a:schemeClr val="lt1"/>
                </a:solidFill>
              </a:rPr>
              <a:t> — Churned customer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FBFF"/>
              </a:solidFill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502920" y="6519672"/>
            <a:ext cx="77724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8CDE0"/>
                </a:solidFill>
                <a:latin typeface="Arial"/>
                <a:ea typeface="Arial"/>
                <a:cs typeface="Arial"/>
                <a:sym typeface="Arial"/>
              </a:rPr>
              <a:t>05 / 12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93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D2E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143000" y="219456"/>
            <a:ext cx="104700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7FBFF"/>
                </a:solidFill>
              </a:rPr>
              <a:t>System Architecture and Workflow 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02925" y="1005445"/>
            <a:ext cx="10515600" cy="4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rgbClr val="B8CDE0"/>
                </a:solidFill>
              </a:rPr>
              <a:t>User → Streamlit Web Application → Customer Dataset and Saved Model → Data Analysis and Prediction → Results and Visualizations</a:t>
            </a:r>
            <a:endParaRPr sz="40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rgbClr val="B8CDE0"/>
                </a:solidFill>
              </a:rPr>
              <a:t>Main Modules: Dashboard, Customer Data Explorer and Churn Prediction.</a:t>
            </a:r>
            <a:endParaRPr sz="4000">
              <a:solidFill>
                <a:srgbClr val="B8CDE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8CDE0"/>
              </a:solidFill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8CDE0"/>
                </a:solidFill>
                <a:latin typeface="Arial"/>
                <a:ea typeface="Arial"/>
                <a:cs typeface="Arial"/>
                <a:sym typeface="Arial"/>
              </a:rPr>
              <a:t>06 / 12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93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D2E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143000" y="219456"/>
            <a:ext cx="104700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7FBFF"/>
                </a:solidFill>
              </a:rPr>
              <a:t>Business Dashboard 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806875" y="1432500"/>
            <a:ext cx="10881300" cy="47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rgbClr val="B8CDE0"/>
                </a:solidFill>
              </a:rPr>
              <a:t>Dashboard Features:</a:t>
            </a:r>
            <a:endParaRPr sz="29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rgbClr val="B8CDE0"/>
                </a:solidFill>
              </a:rPr>
              <a:t>• Total Customers</a:t>
            </a:r>
            <a:endParaRPr sz="29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rgbClr val="B8CDE0"/>
                </a:solidFill>
              </a:rPr>
              <a:t>• Active Customers</a:t>
            </a:r>
            <a:endParaRPr sz="29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rgbClr val="B8CDE0"/>
                </a:solidFill>
              </a:rPr>
              <a:t>• Churned Customers</a:t>
            </a:r>
            <a:endParaRPr sz="29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rgbClr val="B8CDE0"/>
                </a:solidFill>
              </a:rPr>
              <a:t>• Churn Rate</a:t>
            </a:r>
            <a:endParaRPr sz="29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rgbClr val="B8CDE0"/>
                </a:solidFill>
              </a:rPr>
              <a:t>• Customer Status Chart</a:t>
            </a:r>
            <a:endParaRPr sz="29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rgbClr val="B8CDE0"/>
                </a:solidFill>
              </a:rPr>
              <a:t>• Monthly Charges and Tenure Histograms</a:t>
            </a:r>
            <a:endParaRPr sz="29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rgbClr val="B8CDE0"/>
                </a:solidFill>
              </a:rPr>
              <a:t>Purpose: To provide a quick visual overview of customer subscription data.</a:t>
            </a:r>
            <a:endParaRPr sz="2900">
              <a:solidFill>
                <a:srgbClr val="B8CDE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8CDE0"/>
              </a:solidFill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731520" y="1143000"/>
            <a:ext cx="108813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93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D2E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1143000" y="219456"/>
            <a:ext cx="104700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7FBFF"/>
                </a:solidFill>
              </a:rPr>
              <a:t>Customer Data Explorer 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87250" y="1207650"/>
            <a:ext cx="11279100" cy="3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00" lIns="35000" spcFirstLastPara="1" rIns="35000" wrap="square" tIns="35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48">
                <a:solidFill>
                  <a:srgbClr val="B8CDE0"/>
                </a:solidFill>
              </a:rPr>
              <a:t>• Search customers by Customer ID.</a:t>
            </a:r>
            <a:endParaRPr sz="2148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48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48">
                <a:solidFill>
                  <a:srgbClr val="B8CDE0"/>
                </a:solidFill>
              </a:rPr>
              <a:t>• Filter records by Active or Churned status.</a:t>
            </a:r>
            <a:endParaRPr sz="2148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48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48">
                <a:solidFill>
                  <a:srgbClr val="B8CDE0"/>
                </a:solidFill>
              </a:rPr>
              <a:t>• Select the number of records to display.</a:t>
            </a:r>
            <a:endParaRPr sz="2148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48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48">
                <a:solidFill>
                  <a:srgbClr val="B8CDE0"/>
                </a:solidFill>
              </a:rPr>
              <a:t>• View filtered customer information.</a:t>
            </a:r>
            <a:endParaRPr sz="2148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48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48">
                <a:solidFill>
                  <a:srgbClr val="B8CDE0"/>
                </a:solidFill>
              </a:rPr>
              <a:t>• Download filtered records as a CSV file.</a:t>
            </a:r>
            <a:endParaRPr sz="2148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48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48">
                <a:solidFill>
                  <a:srgbClr val="B8CDE0"/>
                </a:solidFill>
              </a:rPr>
              <a:t>Benefit: Makes customer data easier to search, review and export.</a:t>
            </a:r>
            <a:endParaRPr sz="2148">
              <a:solidFill>
                <a:srgbClr val="B8CDE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>
              <a:solidFill>
                <a:srgbClr val="B8CDE0"/>
              </a:solidFill>
            </a:endParaRPr>
          </a:p>
        </p:txBody>
      </p:sp>
      <p:pic>
        <p:nvPicPr>
          <p:cNvPr id="191" name="Google Shape;191;p20" title="Screenshot 2026-10-25 1450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225" y="1070075"/>
            <a:ext cx="4450673" cy="305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93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D2E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1143000" y="219456"/>
            <a:ext cx="104700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7FBFF"/>
                </a:solidFill>
              </a:rPr>
              <a:t>Churn Prediction 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88900" y="960125"/>
            <a:ext cx="5633100" cy="53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B8CDE0"/>
                </a:solidFill>
              </a:rPr>
              <a:t>Input Features</a:t>
            </a:r>
            <a:endParaRPr sz="1900">
              <a:solidFill>
                <a:srgbClr val="B8CDE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900">
                <a:solidFill>
                  <a:srgbClr val="B8CDE0"/>
                </a:solidFill>
              </a:rPr>
              <a:t>Tenure (Months)</a:t>
            </a:r>
            <a:endParaRPr sz="1900">
              <a:solidFill>
                <a:srgbClr val="B8CDE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900">
                <a:solidFill>
                  <a:srgbClr val="B8CDE0"/>
                </a:solidFill>
              </a:rPr>
              <a:t>Monthly Charges</a:t>
            </a:r>
            <a:endParaRPr sz="1900">
              <a:solidFill>
                <a:srgbClr val="B8CDE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900">
                <a:solidFill>
                  <a:srgbClr val="B8CDE0"/>
                </a:solidFill>
              </a:rPr>
              <a:t>Usage Hours</a:t>
            </a:r>
            <a:endParaRPr sz="1900">
              <a:solidFill>
                <a:srgbClr val="B8CDE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900">
                <a:solidFill>
                  <a:srgbClr val="B8CDE0"/>
                </a:solidFill>
              </a:rPr>
              <a:t>Support Tickets</a:t>
            </a:r>
            <a:endParaRPr sz="1900">
              <a:solidFill>
                <a:srgbClr val="B8CDE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900">
                <a:solidFill>
                  <a:srgbClr val="B8CDE0"/>
                </a:solidFill>
              </a:rPr>
              <a:t>Payment Delays</a:t>
            </a:r>
            <a:endParaRPr sz="1900">
              <a:solidFill>
                <a:srgbClr val="B8CDE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B8CDE0"/>
                </a:solidFill>
              </a:rPr>
              <a:t>Prediction Process</a:t>
            </a:r>
            <a:endParaRPr sz="1900">
              <a:solidFill>
                <a:srgbClr val="B8CDE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900">
                <a:solidFill>
                  <a:srgbClr val="B8CDE0"/>
                </a:solidFill>
              </a:rPr>
              <a:t>Enter customer information.</a:t>
            </a:r>
            <a:endParaRPr sz="1900">
              <a:solidFill>
                <a:srgbClr val="B8CDE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900">
                <a:solidFill>
                  <a:srgbClr val="B8CDE0"/>
                </a:solidFill>
              </a:rPr>
              <a:t>Submit the input to the saved machine learning model.</a:t>
            </a:r>
            <a:endParaRPr sz="1900">
              <a:solidFill>
                <a:srgbClr val="B8CDE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900">
                <a:solidFill>
                  <a:srgbClr val="B8CDE0"/>
                </a:solidFill>
              </a:rPr>
              <a:t>Display the predicted churn class.</a:t>
            </a:r>
            <a:endParaRPr sz="1900">
              <a:solidFill>
                <a:srgbClr val="B8CDE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900">
                <a:solidFill>
                  <a:srgbClr val="B8CDE0"/>
                </a:solidFill>
              </a:rPr>
              <a:t>Display estimated churn probability when supported by the model.</a:t>
            </a:r>
            <a:endParaRPr sz="1900">
              <a:solidFill>
                <a:srgbClr val="B8CDE0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B8CDE0"/>
              </a:solidFill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6400800" y="2880360"/>
            <a:ext cx="457200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8CDE0"/>
                </a:solidFill>
                <a:latin typeface="Arial"/>
                <a:ea typeface="Arial"/>
                <a:cs typeface="Arial"/>
                <a:sym typeface="Arial"/>
              </a:rPr>
              <a:t>09 / 12</a:t>
            </a:r>
            <a:endParaRPr/>
          </a:p>
        </p:txBody>
      </p:sp>
      <p:pic>
        <p:nvPicPr>
          <p:cNvPr id="202" name="Google Shape;202;p21" title="Screenshot 2026-10-25 1451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2000" y="576084"/>
            <a:ext cx="5765198" cy="2083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title="Screenshot 2026-10-25 1505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5725" y="3027094"/>
            <a:ext cx="5765200" cy="2547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93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D2E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1143000" y="219456"/>
            <a:ext cx="104700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Conclusion and Future Scope</a:t>
            </a:r>
            <a:endParaRPr b="1" sz="24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F7FBFF"/>
              </a:solidFill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02925" y="960125"/>
            <a:ext cx="11155800" cy="5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B8CDE0"/>
                </a:solidFill>
              </a:rPr>
              <a:t>Conclusion:</a:t>
            </a:r>
            <a:endParaRPr sz="2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B8CDE0"/>
                </a:solidFill>
              </a:rPr>
              <a:t>• Developed a web-based customer churn analysis application.</a:t>
            </a:r>
            <a:endParaRPr sz="2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B8CDE0"/>
                </a:solidFill>
              </a:rPr>
              <a:t>• Displays customer statistics and interactive visualizations.</a:t>
            </a:r>
            <a:endParaRPr sz="2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B8CDE0"/>
                </a:solidFill>
              </a:rPr>
              <a:t>• Provides customer search, filtering and CSV export.</a:t>
            </a:r>
            <a:endParaRPr sz="2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B8CDE0"/>
                </a:solidFill>
              </a:rPr>
              <a:t>• Uses a saved machine learning model for churn prediction.</a:t>
            </a:r>
            <a:endParaRPr sz="2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B8CDE0"/>
                </a:solidFill>
              </a:rPr>
              <a:t>Future Scope:</a:t>
            </a:r>
            <a:endParaRPr sz="2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B8CDE0"/>
                </a:solidFill>
              </a:rPr>
              <a:t>• Evaluate the model using accuracy, precision, recall and F1-score.</a:t>
            </a:r>
            <a:endParaRPr sz="2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B8CDE0"/>
                </a:solidFill>
              </a:rPr>
              <a:t>• Integrate a live database.</a:t>
            </a:r>
            <a:endParaRPr sz="2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B8CDE0"/>
                </a:solidFill>
              </a:rPr>
              <a:t>• Add feature importance and improved risk analysis.</a:t>
            </a:r>
            <a:endParaRPr sz="2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B8CDE0"/>
                </a:solidFill>
              </a:rPr>
              <a:t>• Develop customer retention recommendations.</a:t>
            </a:r>
            <a:endParaRPr sz="2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B8CDE0"/>
                </a:solidFill>
              </a:rPr>
              <a:t>GitHub: https://github.com/chelsyjaviya130-svg/saas-subscription-churn-prediction</a:t>
            </a:r>
            <a:endParaRPr sz="2200">
              <a:solidFill>
                <a:srgbClr val="B8CD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B8CDE0"/>
                </a:solidFill>
              </a:rPr>
              <a:t>Live Demo: https://chelsy-saas-churn-demo.streamlit.app/</a:t>
            </a:r>
            <a:endParaRPr sz="2200">
              <a:solidFill>
                <a:srgbClr val="B8CDE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B8CDE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93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0D2B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8686800" y="731520"/>
            <a:ext cx="1828800" cy="1828800"/>
          </a:xfrm>
          <a:prstGeom prst="ellipse">
            <a:avLst/>
          </a:prstGeom>
          <a:solidFill>
            <a:srgbClr val="145D8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9784080" y="1554480"/>
            <a:ext cx="914400" cy="914400"/>
          </a:xfrm>
          <a:prstGeom prst="ellipse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10241280" y="4251960"/>
            <a:ext cx="1188720" cy="1188720"/>
          </a:xfrm>
          <a:prstGeom prst="ellipse">
            <a:avLst/>
          </a:prstGeom>
          <a:solidFill>
            <a:srgbClr val="145D8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8503920" y="5074920"/>
            <a:ext cx="502920" cy="502920"/>
          </a:xfrm>
          <a:prstGeom prst="ellipse">
            <a:avLst/>
          </a:prstGeom>
          <a:solidFill>
            <a:srgbClr val="2ED2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 rot="2520000">
            <a:off x="9372600" y="2240280"/>
            <a:ext cx="1645920" cy="196596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7FB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8412480" y="4160520"/>
            <a:ext cx="914400" cy="292608"/>
          </a:xfrm>
          <a:prstGeom prst="ellipse">
            <a:avLst/>
          </a:prstGeom>
          <a:solidFill>
            <a:srgbClr val="E1F4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8915400" y="4023360"/>
            <a:ext cx="1097280" cy="365760"/>
          </a:xfrm>
          <a:prstGeom prst="ellipse">
            <a:avLst/>
          </a:prstGeom>
          <a:solidFill>
            <a:srgbClr val="E1F4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9646920" y="4160520"/>
            <a:ext cx="914400" cy="292608"/>
          </a:xfrm>
          <a:prstGeom prst="ellipse">
            <a:avLst/>
          </a:prstGeom>
          <a:solidFill>
            <a:srgbClr val="E1F4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868680" y="914400"/>
            <a:ext cx="65838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868680" y="182880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7FBF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8CDE0"/>
                </a:solidFill>
                <a:latin typeface="Arial"/>
                <a:ea typeface="Arial"/>
                <a:cs typeface="Arial"/>
                <a:sym typeface="Arial"/>
              </a:rPr>
              <a:t>12 / 12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